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Reservas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2024-10</c:v>
                  </c:pt>
                  <c:pt idx="1">
                    <c:v>2024-11</c:v>
                  </c:pt>
                  <c:pt idx="2">
                    <c:v>2024-12</c:v>
                  </c:pt>
                  <c:pt idx="3">
                    <c:v>2025-01</c:v>
                  </c:pt>
                  <c:pt idx="4">
                    <c:v>2025-02</c:v>
                  </c:pt>
                  <c:pt idx="5">
                    <c:v>2025-03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1281</c:v>
                </c:pt>
                <c:pt idx="1">
                  <c:v>1245</c:v>
                </c:pt>
                <c:pt idx="2">
                  <c:v>1305</c:v>
                </c:pt>
                <c:pt idx="3">
                  <c:v>1301</c:v>
                </c:pt>
                <c:pt idx="4">
                  <c:v>1238</c:v>
                </c:pt>
                <c:pt idx="5">
                  <c:v>1269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cancelamento (%)</c:v>
                </c:pt>
              </c:strCache>
            </c:strRef>
          </c:tx>
          <c:spPr>
            <a:solidFill>
              <a:srgbClr val="B8460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460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cat>
            <c:multiLvlStrRef>
              <c:f>Sheet1!$A$2:$A$18</c:f>
              <c:multiLvlStrCache>
                <c:ptCount val="17"/>
                <c:lvl>
                  <c:pt idx="0">
                    <c:v>TopDrive</c:v>
                  </c:pt>
                  <c:pt idx="1">
                    <c:v>Flexways</c:v>
                  </c:pt>
                  <c:pt idx="2">
                    <c:v>National</c:v>
                  </c:pt>
                  <c:pt idx="3">
                    <c:v>Sixt</c:v>
                  </c:pt>
                  <c:pt idx="4">
                    <c:v>Hertz</c:v>
                  </c:pt>
                  <c:pt idx="5">
                    <c:v>Thrifty</c:v>
                  </c:pt>
                  <c:pt idx="6">
                    <c:v>Localiza</c:v>
                  </c:pt>
                  <c:pt idx="7">
                    <c:v>Europcar</c:v>
                  </c:pt>
                  <c:pt idx="8">
                    <c:v>Foco Rent a Car</c:v>
                  </c:pt>
                  <c:pt idx="9">
                    <c:v>Fox Rent A Car</c:v>
                  </c:pt>
                  <c:pt idx="10">
                    <c:v>Unidas</c:v>
                  </c:pt>
                  <c:pt idx="11">
                    <c:v>OK Rent a Car</c:v>
                  </c:pt>
                  <c:pt idx="12">
                    <c:v>Enterprise</c:v>
                  </c:pt>
                  <c:pt idx="13">
                    <c:v>Movida</c:v>
                  </c:pt>
                  <c:pt idx="14">
                    <c:v>Avis</c:v>
                  </c:pt>
                  <c:pt idx="15">
                    <c:v>Dollar</c:v>
                  </c:pt>
                  <c:pt idx="16">
                    <c:v>Alamo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38.16</c:v>
                </c:pt>
                <c:pt idx="1">
                  <c:v>37.95</c:v>
                </c:pt>
                <c:pt idx="2">
                  <c:v>37.39</c:v>
                </c:pt>
                <c:pt idx="3">
                  <c:v>37.2</c:v>
                </c:pt>
                <c:pt idx="4">
                  <c:v>36.59</c:v>
                </c:pt>
                <c:pt idx="5">
                  <c:v>35.87</c:v>
                </c:pt>
                <c:pt idx="6">
                  <c:v>35.59</c:v>
                </c:pt>
                <c:pt idx="7">
                  <c:v>34.77</c:v>
                </c:pt>
                <c:pt idx="8">
                  <c:v>34.03</c:v>
                </c:pt>
                <c:pt idx="9">
                  <c:v>33.79</c:v>
                </c:pt>
                <c:pt idx="10">
                  <c:v>33.4</c:v>
                </c:pt>
                <c:pt idx="11">
                  <c:v>32.78</c:v>
                </c:pt>
                <c:pt idx="12">
                  <c:v>32.62</c:v>
                </c:pt>
                <c:pt idx="13">
                  <c:v>31.89</c:v>
                </c:pt>
                <c:pt idx="14">
                  <c:v>31.27</c:v>
                </c:pt>
                <c:pt idx="15">
                  <c:v>31.12</c:v>
                </c:pt>
                <c:pt idx="16">
                  <c:v>30.57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Nos próximos 5 minutos vou apresentar os resultados de performance de reservas e receita da Rentcars entre outubro de 2024 e março de 2025, e um achado contra-intuitivo sobre cancelamento que muda a ação recomendada.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resumo executivo do período: 11 mil reservas confirmadas, quase 12 milhões de reais em receita aberta por moeda, conversão geral de 9,5% e cancelamento médio de 34,41%. O volume de reservas é estável mês a mês, sem sazonalidade forte. O resto da apresentação explica os dois números que mais chamam atenção: a conversão baixa e o cancelamento alto.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é bem uniforme entre país e device — a taxa de conversão geral varia só entre 8,9% e 10,2% em todos os 21 segmentos que analisamos. Isso é importante: não tem um mercado ou dispositivo ruim puxando a média pra baixo, o gargalo é estrutural, provavelmente na experiência de busca para reserva, já que só 19,5% das buscas viram reserva, não em aquisição.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parceiro com a pior taxa de cancelamento, o TopDrive, tem 38,16%. Isolado, parece o parceiro problema que merece uma conversa dura. Mas rodando a detecção de outliers estatísticos, o limite é 39,28%, e o TopDrive fica a 1,1 ponto percentual dele — não é um outlier. O motivo é que a taxa média da plataforma inteira já é 34,41%, com desvio padrão de só 2,44 pontos percentuais entre os 17 parceiros: todo mundo cancela muito, o TopDrive só cancela um pouco mais que a média. A ação certa não é abrir uma reunião de performance com o TopDrive, é investigar a causa raiz do cancelamento em toda a base, já que quase 1 em cada 3 reservas confirmadas não vira aluguel de fato.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próximos passos: investigar a causa raiz do cancelamento sistêmico usando os campos de motivo e timing que ainda não explorei a fundo; fechar a tabela de câmbio oficial do Banco Central pra destravar uma receita consolidada de verdade; e evoluir esse protótipo pra um dashboard vivo, consumindo os marts direto, sem exportação manual de CSV. Documentei o que não deu tempo de implementar, e por quê — profundidade em menos entregas vale mais que 5 desafios superficiais.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206240"/>
            <a:ext cx="5943600" cy="5943600"/>
          </a:xfrm>
          <a:prstGeom prst="ellipse">
            <a:avLst/>
          </a:prstGeom>
          <a:solidFill>
            <a:srgbClr val="E8590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5120640"/>
            <a:ext cx="3291840" cy="3291840"/>
          </a:xfrm>
          <a:prstGeom prst="ellipse">
            <a:avLst/>
          </a:prstGeom>
          <a:solidFill>
            <a:srgbClr val="E8590C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de Reservas e Receita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de outubro de 2024 – 31 de março de 2025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 Rodrigues  ·  Case técnico — Senior Analytics Engineer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período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— o restante da apresentação detalha os dois números que mais chamam atenção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4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11.056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84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confirmadas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4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R$ 11,9 mi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084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 (aberta por moeda)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4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9,5%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084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geral do funil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2396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1527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4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34,41%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084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 médio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confirmadas por mês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154680"/>
          <a:ext cx="10332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Rentcars — Performance de Reservas e Receita  |  Out/2024–Mar/2025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Funil de conversão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→ busca → reserva, período completo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7863840" cy="96012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647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116.403  (100%)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77121" y="2971800"/>
            <a:ext cx="3823998" cy="960120"/>
          </a:xfrm>
          <a:prstGeom prst="roundRect">
            <a:avLst>
              <a:gd name="adj" fmla="val 5714"/>
            </a:avLst>
          </a:prstGeom>
          <a:solidFill>
            <a:srgbClr val="E859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77121" y="3044952"/>
            <a:ext cx="3823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77121" y="3429000"/>
            <a:ext cx="3823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56.604  (48,6%)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15665" y="4251960"/>
            <a:ext cx="746910" cy="960120"/>
          </a:xfrm>
          <a:prstGeom prst="roundRect">
            <a:avLst>
              <a:gd name="adj" fmla="val 7345"/>
            </a:avLst>
          </a:prstGeom>
          <a:solidFill>
            <a:srgbClr val="B846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15665" y="4325112"/>
            <a:ext cx="7469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15665" y="4709160"/>
            <a:ext cx="7469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11.056  (19,5% das buscas)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0" y="169164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23960" y="18745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funil é uniforme entre país e device: a taxa de conversão geral varia só entre 8,9% e 10,2% nos 21 segmentos analisados.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33375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mercado ou dispositivo puxando a média para baixo — o gargalo é estrutural, na experiência busca → reserva (só 19,5% convertem).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Rentcars — Performance de Reservas e Receita  |  Out/2024–Mar/2025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parceiro com a pior taxa não é o problema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4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é a média da casa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72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4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38,16%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39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TopDrive (pior taxa)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14630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572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4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39,28%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039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outlier (média + 2σ)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4630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1572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4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34,41%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039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da plataforma (17 parceiros)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cancelamento por parceiro — os 17 analisados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2926080"/>
          <a:ext cx="7680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661679" y="2971800"/>
            <a:ext cx="0" cy="3246120"/>
          </a:xfrm>
          <a:prstGeom prst="line">
            <a:avLst/>
          </a:prstGeom>
          <a:noFill/>
          <a:ln w="19050">
            <a:solidFill>
              <a:srgbClr val="B8460A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7158759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84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39,28%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366760" y="2926080"/>
            <a:ext cx="3337560" cy="3429000"/>
          </a:xfrm>
          <a:prstGeom prst="roundRect">
            <a:avLst>
              <a:gd name="adj" fmla="val 2192"/>
            </a:avLst>
          </a:prstGeom>
          <a:solidFill>
            <a:srgbClr val="1A1A1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595360" y="31546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17 parceiros ultrapassa o limite estatístico de outlier. TopDrive fica a apenas 1,1 ponto percentual dele.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470916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recomendada: investigar a causa raiz do cancelamento em toda a base — não abrir uma conversa de performance isolada com o TopDrive.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Rentcars — Performance de Reservas e Receita  |  Out/2024–Mar/2025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685800" cy="6858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5544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a causa raiz do cancelamento sistêmico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0116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reason/cancelled_by de raw_cancellations e o timing (days_before_pickup) — ainda não explorados a fundo neste case.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685800" cy="6858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200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a tabela de câmbio oficial (BCB)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6576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Destrava a receita consolidada entre moedas — item já registrado como backlog no Desafio 5 (discovery com Revenue/Pricing).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685800" cy="6858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937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846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vivo, não só PDF estático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5303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os mesmos marts do Desafio 1 diretamente, sem export manual — próximo passo natural deste protótipo.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263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Documentei o que não deu tempo de implementar, e por quê — profundidade em menos entregas vale mais que 5 desafios superficiais.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Rentcars — Performance de Reservas e Receita  |  Out/2024–Mar/2025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Rentcars — Performance de Reservas e Receita</dc:title>
  <dc:subject>PptxGenJS Presentation</dc:subject>
  <dc:creator>Douglas Rodrigues</dc:creator>
  <cp:lastModifiedBy>Douglas Rodrigues</cp:lastModifiedBy>
  <cp:revision>1</cp:revision>
  <dcterms:created xsi:type="dcterms:W3CDTF">2026-09-17T17:43:49Z</dcterms:created>
  <dcterms:modified xsi:type="dcterms:W3CDTF">2026-09-17T17:43:49Z</dcterms:modified>
</cp:coreProperties>
</file>